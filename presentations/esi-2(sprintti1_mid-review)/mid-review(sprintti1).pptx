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602E-833C-1D06-819C-35B07BF7E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683EB-9C7E-6B1B-B3AB-C273507E7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F3A94-5F55-3D30-AACF-963D663D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5B350-0752-DCA5-4CA4-3E0AFCF1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F4C6A-30FA-DE00-338C-A6B99D77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593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9CA0-9C71-66C8-82E3-5922D184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225D5-1A94-79E6-D1F9-FAC9E9F44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F554-16D5-8327-77BD-D79ED6DD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DF57D-D69F-EA1E-C73F-F054712F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2A6B-B125-D1BC-65AF-6F65DD82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476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2682-EE09-E616-A614-96E2F270B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03EFD-B664-0E69-E1C8-6111D906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9A4B4-B96B-C514-08A8-709131D7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58BA0-F787-DF03-ABE8-05B02DAB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22136-297F-84C8-7F59-AE74E67A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800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4465-09E4-002F-2DEC-CBDF8095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B5975-FDFB-8D7A-76DA-29311AB95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31F9-98ED-D801-4104-0842CD742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2AF10-05C4-F21C-4213-ABFCDCA4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33D1C-060A-E2F6-DA7A-C610C972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3A41D-7907-1252-73D4-F72B5FD8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812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3FC77-E68E-FAC0-1310-9D2CB44E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D2160-19AD-3E28-B0CB-DC0C74385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14048-C0CF-D3B6-CE59-8B5E51F30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4ED70-337F-E5C4-9499-2564FE8F4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9181D-2865-3363-0CE7-7B4BAE39D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75C92-E9D4-4EF4-714D-09B1BF62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F65E9-E0BB-5A2A-F6C3-20E155AA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4841E-337C-E83B-A28E-82F4D032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577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19A5-75BE-5A9A-40C3-EB94EFAB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C605E-7ABD-1861-9EC6-805687CD5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D28DD-1A3C-598B-A0E0-633DC7A6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E6C7A-CF8B-DF43-C6AE-BAFE7B37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495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02DB32-5A80-51E1-0D8C-2973981A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9B207-253D-EC5A-679D-9CEDE28D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D3E52-302C-BF51-D392-DB82E92A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256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620A-4BFD-C57B-FD8E-2E0491F36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D36A9-98FE-6130-C87D-993931C0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1D5F5-12DF-76F7-A041-051CDCBAE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55814-77E7-299C-62E0-66B94932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D92F1-28FC-4F50-B0C8-52EC1ED2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F74C1-D1E7-9469-7BE8-F33F438C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74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82FD-5E07-A506-BD3D-F1AACFE5E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DE826-61F4-179F-659B-C59BA457C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72D58-5B91-0E29-809B-256C0D7BA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CFF71-ED87-374E-7599-A35C73AF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1E44F-F28A-E8A0-9A03-369AD899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90271-E418-D7A0-6763-594E6059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174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6C5C-2AB9-03CF-C7D4-9DAA14A3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F8C20-9208-6128-BE30-79734EE17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62464-E029-0AAB-BF19-9CC0D228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49BC-8FFD-707D-CD1C-8A0BF75B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30381-8D4D-329A-8792-88D64513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76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E2EDEC-EB46-610C-0A3D-6D0E92842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9EDEA-F2B0-405F-0B56-CC480418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FA31-8563-7A7E-67D1-B6D47A0B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51AC-3125-ACAD-A336-03B8A32A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B1F4D-B4BB-5CDE-D565-2BD7A02C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3275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3E8602-E20D-4430-2F2D-370B1798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14C51-B204-B21B-7F9E-28E8BA0F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27B79-4734-D2C3-35FF-B7F493FC8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5FCEA-77FD-4B85-A60E-B0B82EF43433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DF0A1-A670-278D-98BC-6B7CE085D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71DE-E086-A670-1796-AE83364C5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9DDB0-5E1C-4C04-B9B9-50DA8AB097F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405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71EB-A4FE-9DD7-E546-7AA3DD3D4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61980"/>
            <a:ext cx="10427208" cy="399576"/>
          </a:xfrm>
        </p:spPr>
        <p:txBody>
          <a:bodyPr>
            <a:normAutofit/>
          </a:bodyPr>
          <a:lstStyle/>
          <a:p>
            <a:r>
              <a:rPr lang="fi-FI" sz="2200" dirty="0"/>
              <a:t>AI </a:t>
            </a:r>
            <a:r>
              <a:rPr lang="fi-FI" sz="2200" dirty="0" err="1"/>
              <a:t>Motion</a:t>
            </a:r>
            <a:r>
              <a:rPr lang="fi-FI" sz="2200" dirty="0"/>
              <a:t> Analyzer – </a:t>
            </a:r>
            <a:r>
              <a:rPr lang="fi-FI" sz="2200" dirty="0" err="1"/>
              <a:t>MoveSense</a:t>
            </a:r>
            <a:r>
              <a:rPr lang="fi-FI" sz="2200" dirty="0"/>
              <a:t>-pohjainen tekoälyjärjestelmä polven liikeanalyysiin</a:t>
            </a:r>
            <a:endParaRPr lang="LID4096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10391F-1851-F611-AC55-EBDD22D21F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3153992"/>
            <a:ext cx="1042720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i-FI" sz="1600" dirty="0">
                <a:latin typeface="+mj-lt"/>
              </a:rPr>
              <a:t>Projektin tavoitteena on kehittää tekoälypohjainen järjestelmä, joka hyödyntää </a:t>
            </a:r>
            <a:r>
              <a:rPr lang="fi-FI" sz="1600" dirty="0" err="1">
                <a:latin typeface="+mj-lt"/>
              </a:rPr>
              <a:t>MoveSense</a:t>
            </a:r>
            <a:r>
              <a:rPr lang="fi-FI" sz="1600" dirty="0">
                <a:latin typeface="+mj-lt"/>
              </a:rPr>
              <a:t>-IMU-anturia alaraajan liikkeiden (kyykky ja kävely) tunnistamiseen ja polven linjauksen (varus/</a:t>
            </a:r>
            <a:r>
              <a:rPr lang="fi-FI" sz="1600" dirty="0" err="1">
                <a:latin typeface="+mj-lt"/>
              </a:rPr>
              <a:t>valgus</a:t>
            </a:r>
            <a:r>
              <a:rPr lang="fi-FI" sz="1600" dirty="0">
                <a:latin typeface="+mj-lt"/>
              </a:rPr>
              <a:t>) analysointiin.</a:t>
            </a:r>
            <a:br>
              <a:rPr lang="fi-FI" sz="1600" dirty="0">
                <a:latin typeface="+mj-lt"/>
              </a:rPr>
            </a:br>
            <a:r>
              <a:rPr lang="fi-FI" sz="1600" dirty="0">
                <a:latin typeface="+mj-lt"/>
              </a:rPr>
              <a:t>Kohderyhmänä ovat terveet nuoret aikuiset (opiskelijat).</a:t>
            </a:r>
            <a:br>
              <a:rPr lang="fi-FI" sz="1600" dirty="0">
                <a:latin typeface="+mj-lt"/>
              </a:rPr>
            </a:br>
            <a:r>
              <a:rPr lang="fi-FI" sz="1600" dirty="0">
                <a:latin typeface="+mj-lt"/>
              </a:rPr>
              <a:t>Järjestelmä ei ole lääkinnällinen laite, mutta suunnittelussa huomioidaan turvallisuus ja jatkokehityskelpoisuus.</a:t>
            </a:r>
            <a:br>
              <a:rPr lang="fi-FI" sz="1600" dirty="0">
                <a:latin typeface="+mj-lt"/>
              </a:rPr>
            </a:br>
            <a:r>
              <a:rPr lang="fi-FI" sz="1600" dirty="0">
                <a:latin typeface="+mj-lt"/>
              </a:rPr>
              <a:t>Ratkaisu perustuu yhteen anturiin (säären yläosa), Python-analytiikkaan ja CNN-malliin reaaliaikaista liikkeentunnistusta varten.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045373-ACFB-A57D-FE61-0A71FFAFE8E2}"/>
              </a:ext>
            </a:extLst>
          </p:cNvPr>
          <p:cNvSpPr txBox="1">
            <a:spLocks/>
          </p:cNvSpPr>
          <p:nvPr/>
        </p:nvSpPr>
        <p:spPr>
          <a:xfrm>
            <a:off x="838200" y="692357"/>
            <a:ext cx="10427208" cy="11235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3400" dirty="0"/>
              <a:t>Projektin tavoite</a:t>
            </a:r>
            <a:endParaRPr lang="LID4096" sz="3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02A25-97E5-89F4-D6D9-39570439B08C}"/>
              </a:ext>
            </a:extLst>
          </p:cNvPr>
          <p:cNvCxnSpPr>
            <a:cxnSpLocks/>
          </p:cNvCxnSpPr>
          <p:nvPr/>
        </p:nvCxnSpPr>
        <p:spPr>
          <a:xfrm>
            <a:off x="838200" y="1969544"/>
            <a:ext cx="10427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F030F5-4598-5597-7093-52036399B923}"/>
              </a:ext>
            </a:extLst>
          </p:cNvPr>
          <p:cNvCxnSpPr>
            <a:cxnSpLocks/>
          </p:cNvCxnSpPr>
          <p:nvPr/>
        </p:nvCxnSpPr>
        <p:spPr>
          <a:xfrm>
            <a:off x="838200" y="6366590"/>
            <a:ext cx="10427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ack and white drawing of a white object&#10;&#10;AI-generated content may be incorrect.">
            <a:extLst>
              <a:ext uri="{FF2B5EF4-FFF2-40B4-BE49-F238E27FC236}">
                <a16:creationId xmlns:a16="http://schemas.microsoft.com/office/drawing/2014/main" id="{C50CA93F-9AD1-1E58-3DB7-2B267CC3E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445" y="4937762"/>
            <a:ext cx="6381724" cy="10827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A9847A-9BF3-FF4C-00DA-1B178B760AAC}"/>
              </a:ext>
            </a:extLst>
          </p:cNvPr>
          <p:cNvSpPr txBox="1"/>
          <p:nvPr/>
        </p:nvSpPr>
        <p:spPr>
          <a:xfrm>
            <a:off x="9096169" y="6366590"/>
            <a:ext cx="1827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/>
              <a:t>AIMA-2025. Metropolia, </a:t>
            </a:r>
            <a:r>
              <a:rPr lang="fi-FI" sz="1000" dirty="0" err="1"/>
              <a:t>HyTe</a:t>
            </a:r>
            <a:r>
              <a:rPr lang="fi-FI" sz="1000" dirty="0"/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6312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204F-9949-0768-C030-05B628D9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err="1"/>
              <a:t>Taustatutkimus</a:t>
            </a:r>
            <a:endParaRPr lang="LID4096" sz="3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69A158-0587-5875-7E8B-45AD9E3DB1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42389"/>
            <a:ext cx="4751439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i-FI" sz="1600" dirty="0"/>
              <a:t>Tutkimusten mukaan IMU-järjestelmät voivat mitata polvikulmaa 1–4° tarkkuudella, mikä täyttää kliiniset vaatimukset.</a:t>
            </a:r>
            <a:br>
              <a:rPr lang="fi-FI" sz="1600" dirty="0"/>
            </a:br>
            <a:br>
              <a:rPr lang="fi-FI" sz="1600" dirty="0"/>
            </a:br>
            <a:r>
              <a:rPr lang="fi-FI" sz="1600" dirty="0"/>
              <a:t>CNN-pohjaiset mallit tunnistavat liikkeet yli 93 % tarkkuudella myös yhdellä anturilla.</a:t>
            </a:r>
            <a:br>
              <a:rPr lang="fi-FI" sz="1600" dirty="0"/>
            </a:br>
            <a:br>
              <a:rPr lang="fi-FI" sz="1600" dirty="0"/>
            </a:br>
            <a:r>
              <a:rPr lang="fi-FI" sz="1600" dirty="0" err="1"/>
              <a:t>MoveSense</a:t>
            </a:r>
            <a:r>
              <a:rPr lang="fi-FI" sz="1600" dirty="0"/>
              <a:t> tarjoaa kannettavan ja kustannustehokkaan vaihtoehdon laboratoriojärjestelmille.</a:t>
            </a:r>
            <a:br>
              <a:rPr lang="fi-FI" sz="1600" dirty="0"/>
            </a:br>
            <a:br>
              <a:rPr lang="fi-FI" sz="1600" dirty="0"/>
            </a:br>
            <a:r>
              <a:rPr lang="fi-FI" sz="1600" dirty="0"/>
              <a:t>Tutkimuksissa käytettiin tyypillisesti 10–20 osallistujaa ja Kalman- tai </a:t>
            </a:r>
            <a:r>
              <a:rPr lang="fi-FI" sz="1600" dirty="0" err="1"/>
              <a:t>Butterworth</a:t>
            </a:r>
            <a:r>
              <a:rPr lang="fi-FI" sz="1600" dirty="0"/>
              <a:t>-suodatusta.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pic>
        <p:nvPicPr>
          <p:cNvPr id="5" name="Picture 4" descr="A diagram of a human leg&#10;&#10;AI-generated content may be incorrect.">
            <a:extLst>
              <a:ext uri="{FF2B5EF4-FFF2-40B4-BE49-F238E27FC236}">
                <a16:creationId xmlns:a16="http://schemas.microsoft.com/office/drawing/2014/main" id="{196A16B7-521C-2A41-120B-F64F6DE4C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363" y="1782396"/>
            <a:ext cx="3909399" cy="397798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21A1D3-E8FB-A470-F6CE-65477256A73A}"/>
              </a:ext>
            </a:extLst>
          </p:cNvPr>
          <p:cNvCxnSpPr>
            <a:cxnSpLocks/>
          </p:cNvCxnSpPr>
          <p:nvPr/>
        </p:nvCxnSpPr>
        <p:spPr>
          <a:xfrm>
            <a:off x="838200" y="1449150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28778B-9D45-0DEF-3B1F-127BA15A4684}"/>
              </a:ext>
            </a:extLst>
          </p:cNvPr>
          <p:cNvCxnSpPr>
            <a:cxnSpLocks/>
          </p:cNvCxnSpPr>
          <p:nvPr/>
        </p:nvCxnSpPr>
        <p:spPr>
          <a:xfrm>
            <a:off x="838200" y="6126480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FD09E27-EAE1-0080-39B1-2AE5A408FE55}"/>
              </a:ext>
            </a:extLst>
          </p:cNvPr>
          <p:cNvSpPr txBox="1"/>
          <p:nvPr/>
        </p:nvSpPr>
        <p:spPr>
          <a:xfrm>
            <a:off x="8684018" y="6246359"/>
            <a:ext cx="1827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/>
              <a:t>AIMA-2025. Metropolia, </a:t>
            </a:r>
            <a:r>
              <a:rPr lang="fi-FI" sz="1000" dirty="0" err="1"/>
              <a:t>HyTe</a:t>
            </a:r>
            <a:r>
              <a:rPr lang="fi-FI" sz="1000" dirty="0"/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409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18F9-F387-D494-6E16-DB27BD69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 dirty="0" err="1"/>
              <a:t>Käyttäjäprofiilit</a:t>
            </a:r>
            <a:endParaRPr lang="LID4096" sz="3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81682B-2701-232F-04A2-19621414F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818357"/>
              </p:ext>
            </p:extLst>
          </p:nvPr>
        </p:nvGraphicFramePr>
        <p:xfrm>
          <a:off x="1790178" y="2539199"/>
          <a:ext cx="847853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061">
                  <a:extLst>
                    <a:ext uri="{9D8B030D-6E8A-4147-A177-3AD203B41FA5}">
                      <a16:colId xmlns:a16="http://schemas.microsoft.com/office/drawing/2014/main" val="3963633978"/>
                    </a:ext>
                  </a:extLst>
                </a:gridCol>
                <a:gridCol w="2208123">
                  <a:extLst>
                    <a:ext uri="{9D8B030D-6E8A-4147-A177-3AD203B41FA5}">
                      <a16:colId xmlns:a16="http://schemas.microsoft.com/office/drawing/2014/main" val="4036565543"/>
                    </a:ext>
                  </a:extLst>
                </a:gridCol>
                <a:gridCol w="2433154">
                  <a:extLst>
                    <a:ext uri="{9D8B030D-6E8A-4147-A177-3AD203B41FA5}">
                      <a16:colId xmlns:a16="http://schemas.microsoft.com/office/drawing/2014/main" val="1579145084"/>
                    </a:ext>
                  </a:extLst>
                </a:gridCol>
                <a:gridCol w="2515196">
                  <a:extLst>
                    <a:ext uri="{9D8B030D-6E8A-4147-A177-3AD203B41FA5}">
                      <a16:colId xmlns:a16="http://schemas.microsoft.com/office/drawing/2014/main" val="1141547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solidFill>
                            <a:schemeClr val="tx1"/>
                          </a:solidFill>
                          <a:latin typeface="+mj-lt"/>
                        </a:rPr>
                        <a:t>Käyttäjä</a:t>
                      </a:r>
                      <a:endParaRPr lang="LID4096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solidFill>
                            <a:schemeClr val="tx1"/>
                          </a:solidFill>
                          <a:latin typeface="+mj-lt"/>
                        </a:rPr>
                        <a:t>Käyttökonteksti</a:t>
                      </a:r>
                      <a:endParaRPr lang="LID4096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solidFill>
                            <a:schemeClr val="tx1"/>
                          </a:solidFill>
                          <a:latin typeface="+mj-lt"/>
                        </a:rPr>
                        <a:t>Tehtävä</a:t>
                      </a:r>
                      <a:endParaRPr lang="LID4096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solidFill>
                            <a:schemeClr val="tx1"/>
                          </a:solidFill>
                          <a:latin typeface="+mj-lt"/>
                        </a:rPr>
                        <a:t>Käyttötiheys</a:t>
                      </a:r>
                      <a:endParaRPr lang="LID4096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068062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Kuntoutuja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Fysioterapia / Koti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Polven liikkeen seuranta ja palaute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3-5x / vko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063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Urheilija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Harjoitussali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Liikeanalyysi ja kulmatarkistus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1-2x / vko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27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Opiskelija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Kampusympäristö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Testimittaus ja prototyypin arviointi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000" dirty="0">
                          <a:latin typeface="+mj-lt"/>
                        </a:rPr>
                        <a:t>Kertaluonteinen</a:t>
                      </a:r>
                      <a:endParaRPr lang="LID4096" sz="2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90274"/>
                  </a:ext>
                </a:extLst>
              </a:tr>
            </a:tbl>
          </a:graphicData>
        </a:graphic>
      </p:graphicFrame>
      <p:pic>
        <p:nvPicPr>
          <p:cNvPr id="5" name="Picture 4" descr="A black and white logo of a running person&#10;&#10;AI-generated content may be incorrect.">
            <a:extLst>
              <a:ext uri="{FF2B5EF4-FFF2-40B4-BE49-F238E27FC236}">
                <a16:creationId xmlns:a16="http://schemas.microsoft.com/office/drawing/2014/main" id="{F0A8C18E-F5E2-D1CF-FCC1-AE29BEE37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27" y="3016283"/>
            <a:ext cx="851394" cy="19950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54C25A-2BEC-AA50-8924-9608FAF72A9F}"/>
              </a:ext>
            </a:extLst>
          </p:cNvPr>
          <p:cNvCxnSpPr/>
          <p:nvPr/>
        </p:nvCxnSpPr>
        <p:spPr>
          <a:xfrm>
            <a:off x="838200" y="1554480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0FBD9E-7825-2028-4BE5-54CB1041173F}"/>
              </a:ext>
            </a:extLst>
          </p:cNvPr>
          <p:cNvCxnSpPr/>
          <p:nvPr/>
        </p:nvCxnSpPr>
        <p:spPr>
          <a:xfrm>
            <a:off x="838200" y="5916168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B442BA-BBAA-DD65-AF97-D9B0BAC79A8E}"/>
              </a:ext>
            </a:extLst>
          </p:cNvPr>
          <p:cNvSpPr txBox="1"/>
          <p:nvPr/>
        </p:nvSpPr>
        <p:spPr>
          <a:xfrm>
            <a:off x="8440968" y="6019118"/>
            <a:ext cx="1827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/>
              <a:t>AIMA-2025. Metropolia, </a:t>
            </a:r>
            <a:r>
              <a:rPr lang="fi-FI" sz="1000" dirty="0" err="1"/>
              <a:t>HyTe</a:t>
            </a:r>
            <a:r>
              <a:rPr lang="fi-FI" sz="1000" dirty="0"/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9201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8F82-4BE7-9704-10BE-59CC743F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/>
              <a:t>Tekniset vaatimukset</a:t>
            </a:r>
            <a:endParaRPr lang="LID4096" sz="3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0B2374-B081-91D6-29A9-05DFC2DCE9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4394483"/>
            <a:ext cx="97688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Anturi: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		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MoveSense IMU (säären yläosa, tibian etupuoli)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Näytteenottotaajuus: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100 Hz (optimi 200 Hz)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Parametrit: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	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varus/valgus, fleksio/ekstensio, liikkeen tunnistus (CNN-luokittelu)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Datamuoto: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	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CSV (BLE-yhteys, aikaleima)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AI-malli: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		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1D-CNN, Python-pohjainen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Tarkkuusvaatimus: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	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tavoite ±1–3°, hyväksyttävä ±5°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8425E-2622-3A8B-DB73-DDF24196DF35}"/>
              </a:ext>
            </a:extLst>
          </p:cNvPr>
          <p:cNvSpPr txBox="1"/>
          <p:nvPr/>
        </p:nvSpPr>
        <p:spPr>
          <a:xfrm>
            <a:off x="7189266" y="4055929"/>
            <a:ext cx="776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i="1" dirty="0">
                <a:latin typeface="+mj-lt"/>
              </a:rPr>
              <a:t>9 DOF IMU</a:t>
            </a:r>
            <a:endParaRPr lang="LID4096" sz="1000" i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7E4C88-2BD2-AD82-4603-1D72E551BA07}"/>
              </a:ext>
            </a:extLst>
          </p:cNvPr>
          <p:cNvCxnSpPr/>
          <p:nvPr/>
        </p:nvCxnSpPr>
        <p:spPr>
          <a:xfrm>
            <a:off x="838200" y="1389888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774018-54E1-54BD-957F-9EC262D4A7D8}"/>
              </a:ext>
            </a:extLst>
          </p:cNvPr>
          <p:cNvCxnSpPr/>
          <p:nvPr/>
        </p:nvCxnSpPr>
        <p:spPr>
          <a:xfrm>
            <a:off x="765073" y="6345936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50C823-08C8-BA09-2600-397DA844B004}"/>
              </a:ext>
            </a:extLst>
          </p:cNvPr>
          <p:cNvSpPr txBox="1"/>
          <p:nvPr/>
        </p:nvSpPr>
        <p:spPr>
          <a:xfrm>
            <a:off x="8779296" y="6418802"/>
            <a:ext cx="1827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/>
              <a:t>AIMA-2025. Metropolia, </a:t>
            </a:r>
            <a:r>
              <a:rPr lang="fi-FI" sz="1000" dirty="0" err="1"/>
              <a:t>HyTe</a:t>
            </a:r>
            <a:r>
              <a:rPr lang="fi-FI" sz="1000" dirty="0"/>
              <a:t>.</a:t>
            </a:r>
            <a:endParaRPr lang="LID4096" dirty="0"/>
          </a:p>
        </p:txBody>
      </p:sp>
      <p:pic>
        <p:nvPicPr>
          <p:cNvPr id="17" name="Picture 16" descr="A black square with arrows and symbols&#10;&#10;AI-generated content may be incorrect.">
            <a:extLst>
              <a:ext uri="{FF2B5EF4-FFF2-40B4-BE49-F238E27FC236}">
                <a16:creationId xmlns:a16="http://schemas.microsoft.com/office/drawing/2014/main" id="{A6BC9C14-40E6-A730-5E7B-63E05A47F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69" y="1600103"/>
            <a:ext cx="7143372" cy="245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6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B8CE-2BAD-E58F-734B-5EB66F15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 dirty="0" err="1"/>
              <a:t>Mittausprotokolla</a:t>
            </a:r>
            <a:r>
              <a:rPr lang="en-GB" sz="3400" dirty="0"/>
              <a:t> (</a:t>
            </a:r>
            <a:r>
              <a:rPr lang="en-GB" sz="3400" dirty="0" err="1"/>
              <a:t>Kyykky</a:t>
            </a:r>
            <a:r>
              <a:rPr lang="en-GB" sz="3400" dirty="0"/>
              <a:t> &amp; </a:t>
            </a:r>
            <a:r>
              <a:rPr lang="en-GB" sz="3400" dirty="0" err="1"/>
              <a:t>Kävely</a:t>
            </a:r>
            <a:r>
              <a:rPr lang="en-GB" sz="3400" dirty="0"/>
              <a:t>)</a:t>
            </a:r>
            <a:endParaRPr lang="LID4096" sz="3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7BEEC8-4B8A-A3AA-7643-48A1822AF9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5229" y="2800803"/>
            <a:ext cx="62406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Anturi kiinnitetään sääriluun yläosaan joustavalla hihnalla.</a:t>
            </a:r>
            <a:endParaRPr kumimoji="0" lang="fi-FI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Kyykkytesti: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5–10 toistoa, n. 90° polvikulmaan.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Kävelytesti: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3–5 sarjaa, 5–10 m, luonnollinen tahti.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Olosuhteet: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sisätila, 20–22 °C, tasainen alusta.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kiihtyvyys, gyroskooppi, kvaternionit, kulmat (100 Hz).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Tallennus: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CSV, anonymisoitu (H1–H3).</a:t>
            </a:r>
          </a:p>
        </p:txBody>
      </p:sp>
      <p:pic>
        <p:nvPicPr>
          <p:cNvPr id="7" name="Picture 6" descr="A black and white illustration of a leg&#10;&#10;AI-generated content may be incorrect.">
            <a:extLst>
              <a:ext uri="{FF2B5EF4-FFF2-40B4-BE49-F238E27FC236}">
                <a16:creationId xmlns:a16="http://schemas.microsoft.com/office/drawing/2014/main" id="{147DA189-9882-C22D-D4FD-E07876167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917" y="2063713"/>
            <a:ext cx="2339543" cy="350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D10DC8-0142-EFB9-4409-FA31C71B0FF4}"/>
              </a:ext>
            </a:extLst>
          </p:cNvPr>
          <p:cNvCxnSpPr/>
          <p:nvPr/>
        </p:nvCxnSpPr>
        <p:spPr>
          <a:xfrm>
            <a:off x="932688" y="1572768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86ED5D-2B83-2CA3-07E7-82C910F3D6A5}"/>
              </a:ext>
            </a:extLst>
          </p:cNvPr>
          <p:cNvCxnSpPr/>
          <p:nvPr/>
        </p:nvCxnSpPr>
        <p:spPr>
          <a:xfrm>
            <a:off x="932688" y="6050280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87ECBD-A8A0-9EE9-8678-64E25879DFE7}"/>
              </a:ext>
            </a:extLst>
          </p:cNvPr>
          <p:cNvSpPr txBox="1"/>
          <p:nvPr/>
        </p:nvSpPr>
        <p:spPr>
          <a:xfrm>
            <a:off x="9041305" y="6182646"/>
            <a:ext cx="1827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/>
              <a:t>AIMA-2025. Metropolia, </a:t>
            </a:r>
            <a:r>
              <a:rPr lang="fi-FI" sz="1000" dirty="0" err="1"/>
              <a:t>HyTe</a:t>
            </a:r>
            <a:r>
              <a:rPr lang="fi-FI" sz="1000" dirty="0"/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2644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BBE7-820B-9AA1-E6CB-11D60E71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 dirty="0" err="1"/>
              <a:t>Yhteenveto</a:t>
            </a:r>
            <a:r>
              <a:rPr lang="en-GB" sz="3400" dirty="0"/>
              <a:t> / </a:t>
            </a:r>
            <a:r>
              <a:rPr lang="en-GB" sz="3400" dirty="0" err="1"/>
              <a:t>Seuraavat</a:t>
            </a:r>
            <a:r>
              <a:rPr lang="en-GB" sz="3400" dirty="0"/>
              <a:t> </a:t>
            </a:r>
            <a:r>
              <a:rPr lang="en-GB" sz="3400" dirty="0" err="1"/>
              <a:t>askeleet</a:t>
            </a:r>
            <a:endParaRPr lang="LID4096" sz="3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A043C7-1A48-0622-CE9D-C784302F37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89107"/>
            <a:ext cx="625577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MoveSense-yhteyden toteutus (Sprintti 2)</a:t>
            </a:r>
            <a:endParaRPr kumimoji="0" lang="fi-FI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Datan suodatus ja kulmalaskenta (Butterworth / Kalman)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CNN-luokittelu ja validointi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Figma-käyttöliittymän ensimmäinen versio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Pilotin testaus ja validointiraportti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049D89-9A4A-EF18-F38F-0D77E16634B2}"/>
              </a:ext>
            </a:extLst>
          </p:cNvPr>
          <p:cNvCxnSpPr>
            <a:cxnSpLocks/>
          </p:cNvCxnSpPr>
          <p:nvPr/>
        </p:nvCxnSpPr>
        <p:spPr>
          <a:xfrm>
            <a:off x="838200" y="1449150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0EB229-8076-9842-1C06-5DD59C6019AD}"/>
              </a:ext>
            </a:extLst>
          </p:cNvPr>
          <p:cNvCxnSpPr>
            <a:cxnSpLocks/>
          </p:cNvCxnSpPr>
          <p:nvPr/>
        </p:nvCxnSpPr>
        <p:spPr>
          <a:xfrm>
            <a:off x="838200" y="5935806"/>
            <a:ext cx="9253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AD4984-9244-74AE-742F-FB0A151F9F88}"/>
              </a:ext>
            </a:extLst>
          </p:cNvPr>
          <p:cNvSpPr txBox="1"/>
          <p:nvPr/>
        </p:nvSpPr>
        <p:spPr>
          <a:xfrm>
            <a:off x="8940721" y="6064838"/>
            <a:ext cx="1827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000" dirty="0"/>
              <a:t>AIMA-2025. Metropolia, </a:t>
            </a:r>
            <a:r>
              <a:rPr lang="fi-FI" sz="1000" dirty="0" err="1"/>
              <a:t>HyTe</a:t>
            </a:r>
            <a:r>
              <a:rPr lang="fi-FI" sz="1000" dirty="0"/>
              <a:t>.</a:t>
            </a:r>
            <a:endParaRPr lang="LID4096" dirty="0"/>
          </a:p>
        </p:txBody>
      </p:sp>
      <p:pic>
        <p:nvPicPr>
          <p:cNvPr id="11" name="Picture 10" descr="A black line drawing of a stack of papers&#10;&#10;AI-generated content may be incorrect.">
            <a:extLst>
              <a:ext uri="{FF2B5EF4-FFF2-40B4-BE49-F238E27FC236}">
                <a16:creationId xmlns:a16="http://schemas.microsoft.com/office/drawing/2014/main" id="{8655BC0A-4404-6AB8-25A9-44DD2EEC7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021" y="2386164"/>
            <a:ext cx="2709907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0C39-39D2-9882-FCE9-2E2CCB88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251" y="4699381"/>
            <a:ext cx="1301496" cy="832739"/>
          </a:xfrm>
        </p:spPr>
        <p:txBody>
          <a:bodyPr>
            <a:normAutofit/>
          </a:bodyPr>
          <a:lstStyle/>
          <a:p>
            <a:r>
              <a:rPr lang="fi-FI" sz="3400" dirty="0"/>
              <a:t>Kiitos!</a:t>
            </a:r>
            <a:endParaRPr lang="LID4096" sz="3400" dirty="0"/>
          </a:p>
        </p:txBody>
      </p:sp>
      <p:pic>
        <p:nvPicPr>
          <p:cNvPr id="5" name="Picture 4" descr="A black and white illustration of a robot holding a light bulb&#10;&#10;AI-generated content may be incorrect.">
            <a:extLst>
              <a:ext uri="{FF2B5EF4-FFF2-40B4-BE49-F238E27FC236}">
                <a16:creationId xmlns:a16="http://schemas.microsoft.com/office/drawing/2014/main" id="{6F44EA13-5E0C-E0D4-36C1-89E3ECB5F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752" y="2930973"/>
            <a:ext cx="2042495" cy="185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55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373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Bahnschrift Light</vt:lpstr>
      <vt:lpstr>Office Theme</vt:lpstr>
      <vt:lpstr>AI Motion Analyzer – MoveSense-pohjainen tekoälyjärjestelmä polven liikeanalyysiin</vt:lpstr>
      <vt:lpstr>Taustatutkimus</vt:lpstr>
      <vt:lpstr>Käyttäjäprofiilit</vt:lpstr>
      <vt:lpstr>Tekniset vaatimukset</vt:lpstr>
      <vt:lpstr>Mittausprotokolla (Kyykky &amp; Kävely)</vt:lpstr>
      <vt:lpstr>Yhteenveto / Seuraavat askeleet</vt:lpstr>
      <vt:lpstr>Kiitos!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Lukianenkov</dc:creator>
  <cp:lastModifiedBy>Artem Lukianenkov</cp:lastModifiedBy>
  <cp:revision>3</cp:revision>
  <dcterms:created xsi:type="dcterms:W3CDTF">2025-10-30T08:19:11Z</dcterms:created>
  <dcterms:modified xsi:type="dcterms:W3CDTF">2025-10-30T15:27:42Z</dcterms:modified>
</cp:coreProperties>
</file>