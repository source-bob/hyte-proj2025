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1324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167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2773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0717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045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5860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183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0256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747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554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183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10/26/2025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8551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84A81-4EC2-83F8-AACE-7CAA1E4839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sz="3200" b="0" dirty="0" err="1">
                <a:latin typeface="Aptos Display" panose="020B0004020202020204" pitchFamily="34" charset="0"/>
              </a:rPr>
              <a:t>Projektin</a:t>
            </a:r>
            <a:r>
              <a:rPr lang="en-GB" sz="3200" b="0" dirty="0">
                <a:latin typeface="Aptos Display" panose="020B0004020202020204" pitchFamily="34" charset="0"/>
              </a:rPr>
              <a:t> </a:t>
            </a:r>
            <a:r>
              <a:rPr lang="en-GB" sz="3200" b="0" dirty="0" err="1">
                <a:latin typeface="Aptos Display" panose="020B0004020202020204" pitchFamily="34" charset="0"/>
              </a:rPr>
              <a:t>nimi</a:t>
            </a:r>
            <a:r>
              <a:rPr lang="en-GB" sz="3200" b="0" dirty="0">
                <a:latin typeface="Aptos Display" panose="020B0004020202020204" pitchFamily="34" charset="0"/>
              </a:rPr>
              <a:t> </a:t>
            </a:r>
            <a:r>
              <a:rPr lang="en-GB" sz="3200" b="0" dirty="0" err="1">
                <a:latin typeface="Aptos Display" panose="020B0004020202020204" pitchFamily="34" charset="0"/>
              </a:rPr>
              <a:t>ja</a:t>
            </a:r>
            <a:r>
              <a:rPr lang="en-GB" sz="3200" b="0" dirty="0">
                <a:latin typeface="Aptos Display" panose="020B0004020202020204" pitchFamily="34" charset="0"/>
              </a:rPr>
              <a:t> </a:t>
            </a:r>
            <a:r>
              <a:rPr lang="en-GB" sz="3200" b="0" dirty="0" err="1">
                <a:latin typeface="Aptos Display" panose="020B0004020202020204" pitchFamily="34" charset="0"/>
              </a:rPr>
              <a:t>tiimi</a:t>
            </a:r>
            <a:br>
              <a:rPr lang="fi-FI" sz="3200" b="0" dirty="0">
                <a:latin typeface="Aptos Display" panose="020B0004020202020204" pitchFamily="34" charset="0"/>
              </a:rPr>
            </a:br>
            <a:br>
              <a:rPr lang="fi-FI" sz="3200" b="0" dirty="0">
                <a:latin typeface="Aptos Display" panose="020B0004020202020204" pitchFamily="34" charset="0"/>
              </a:rPr>
            </a:br>
            <a:r>
              <a:rPr lang="fi-FI" sz="3200" b="0" dirty="0">
                <a:latin typeface="Aptos Display" panose="020B0004020202020204" pitchFamily="34" charset="0"/>
              </a:rPr>
              <a:t>	</a:t>
            </a:r>
            <a:r>
              <a:rPr lang="fi-FI" sz="2400" b="0" dirty="0">
                <a:latin typeface="Aptos Display" panose="020B0004020202020204" pitchFamily="34" charset="0"/>
              </a:rPr>
              <a:t>AI </a:t>
            </a:r>
            <a:r>
              <a:rPr lang="fi-FI" sz="2400" b="0" dirty="0" err="1">
                <a:latin typeface="Aptos Display" panose="020B0004020202020204" pitchFamily="34" charset="0"/>
              </a:rPr>
              <a:t>Motion</a:t>
            </a:r>
            <a:r>
              <a:rPr lang="fi-FI" sz="2400" b="0" dirty="0">
                <a:latin typeface="Aptos Display" panose="020B0004020202020204" pitchFamily="34" charset="0"/>
              </a:rPr>
              <a:t> Analyzer – tekoälypohjainen polven liikkeen tunnistusjärjestelmä</a:t>
            </a:r>
            <a:br>
              <a:rPr lang="ru-RU" sz="3200" b="0" dirty="0"/>
            </a:br>
            <a:br>
              <a:rPr lang="ru-RU" sz="3200" b="0" dirty="0"/>
            </a:br>
            <a:br>
              <a:rPr lang="ru-RU" sz="3200" b="0" dirty="0"/>
            </a:br>
            <a:r>
              <a:rPr lang="fi-FI" sz="3200" b="0" dirty="0"/>
              <a:t>	</a:t>
            </a:r>
            <a:r>
              <a:rPr lang="fi-FI" sz="1300" b="0" dirty="0">
                <a:latin typeface="Aptos Display" panose="020B0004020202020204" pitchFamily="34" charset="0"/>
              </a:rPr>
              <a:t>Kurssi: </a:t>
            </a:r>
            <a:r>
              <a:rPr lang="fi-FI" sz="1300" b="0" i="1" dirty="0">
                <a:latin typeface="Aptos Display" panose="020B0004020202020204" pitchFamily="34" charset="0"/>
              </a:rPr>
              <a:t>Mittaustiedon käsittely ja visualisointi</a:t>
            </a:r>
            <a:br>
              <a:rPr lang="fi-FI" sz="1300" b="0" dirty="0">
                <a:latin typeface="Aptos Display" panose="020B0004020202020204" pitchFamily="34" charset="0"/>
              </a:rPr>
            </a:br>
            <a:r>
              <a:rPr lang="fi-FI" sz="1300" b="0" dirty="0">
                <a:latin typeface="Aptos Display" panose="020B0004020202020204" pitchFamily="34" charset="0"/>
              </a:rPr>
              <a:t>	Ryhmä: R10 / A, </a:t>
            </a:r>
            <a:r>
              <a:rPr lang="fi-FI" sz="1300" b="0" dirty="0" err="1">
                <a:latin typeface="Aptos Display" panose="020B0004020202020204" pitchFamily="34" charset="0"/>
              </a:rPr>
              <a:t>Chatgpt</a:t>
            </a:r>
            <a:endParaRPr lang="LID4096" sz="1300" b="0" dirty="0">
              <a:latin typeface="Aptos Display" panose="020B00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A97FDE-948F-C023-EA4F-B59790CB90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35608" y="4480560"/>
            <a:ext cx="7104888" cy="1399032"/>
          </a:xfrm>
        </p:spPr>
        <p:txBody>
          <a:bodyPr>
            <a:normAutofit/>
          </a:bodyPr>
          <a:lstStyle/>
          <a:p>
            <a:r>
              <a:rPr lang="fi-FI" sz="2000" i="0" dirty="0">
                <a:latin typeface="Aptos Display" panose="020B0004020202020204" pitchFamily="34" charset="0"/>
              </a:rPr>
              <a:t>Kehitetään tekoälyratkaisun, joka analysoi polven liikkeitä </a:t>
            </a:r>
            <a:r>
              <a:rPr lang="fi-FI" sz="2000" i="0" dirty="0" err="1">
                <a:latin typeface="Aptos Display" panose="020B0004020202020204" pitchFamily="34" charset="0"/>
              </a:rPr>
              <a:t>MoveSense</a:t>
            </a:r>
            <a:r>
              <a:rPr lang="fi-FI" sz="2000" i="0" dirty="0">
                <a:latin typeface="Aptos Display" panose="020B0004020202020204" pitchFamily="34" charset="0"/>
              </a:rPr>
              <a:t>-anturin datan avulla ja tunnistaa liikkeiden biomekaaniset poikkeamat</a:t>
            </a:r>
            <a:endParaRPr lang="LID4096" sz="2000" i="0" dirty="0">
              <a:latin typeface="Aptos Display" panose="020B00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180B99B-D616-780C-3CCC-0F24CB399A96}"/>
              </a:ext>
            </a:extLst>
          </p:cNvPr>
          <p:cNvSpPr/>
          <p:nvPr/>
        </p:nvSpPr>
        <p:spPr>
          <a:xfrm>
            <a:off x="1078991" y="1824415"/>
            <a:ext cx="9912097" cy="8730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DF3C9B-383D-1D18-50B1-7E24F5679567}"/>
              </a:ext>
            </a:extLst>
          </p:cNvPr>
          <p:cNvSpPr/>
          <p:nvPr/>
        </p:nvSpPr>
        <p:spPr>
          <a:xfrm>
            <a:off x="1078991" y="4672583"/>
            <a:ext cx="6702553" cy="13040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10108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30D6E-471B-D1AC-BC0E-5FAA63EAA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0" dirty="0" err="1"/>
              <a:t>Tausta</a:t>
            </a:r>
            <a:r>
              <a:rPr lang="en-GB" sz="3200" b="0" dirty="0"/>
              <a:t> </a:t>
            </a:r>
            <a:r>
              <a:rPr lang="en-GB" sz="3200" b="0" dirty="0" err="1"/>
              <a:t>ja</a:t>
            </a:r>
            <a:r>
              <a:rPr lang="en-GB" sz="3200" b="0" dirty="0"/>
              <a:t> </a:t>
            </a:r>
            <a:r>
              <a:rPr lang="en-GB" sz="3200" b="0" dirty="0" err="1"/>
              <a:t>ongelma</a:t>
            </a:r>
            <a:endParaRPr lang="LID4096" sz="3200" b="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7D5411E-7539-DF5E-FFD9-01BDD2C48F3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32386" y="1709928"/>
            <a:ext cx="4901486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Polven linjausvirheet (varus / valgus) lisäävät merkittävästi nivelrikon riskiä.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fi-FI" altLang="LID4096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Display" panose="020B00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Perinteiset mittaukset vaativat laboratoriolaitteita ja ovat hitaita.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fi-FI" altLang="LID4096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Display" panose="020B00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Tarvitaan älykäs ja kannettava järjestelmä, joka tunnistaa liikkeet automaattisesti.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75C6B1-733C-EF1F-11EA-967C551542C8}"/>
              </a:ext>
            </a:extLst>
          </p:cNvPr>
          <p:cNvSpPr txBox="1"/>
          <p:nvPr/>
        </p:nvSpPr>
        <p:spPr>
          <a:xfrm>
            <a:off x="1032386" y="4640240"/>
            <a:ext cx="490148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2000" dirty="0">
                <a:latin typeface="Aptos Display" panose="020B0004020202020204" pitchFamily="34" charset="0"/>
              </a:rPr>
              <a:t>Tavoitteena on tunnistaa liikevirheet varhaisessa vaiheessa ennen kuin ne aiheuttavat nivelongelmia.</a:t>
            </a:r>
            <a:endParaRPr lang="LID4096" sz="2000" dirty="0">
              <a:latin typeface="Aptos Display" panose="020B0004020202020204" pitchFamily="34" charset="0"/>
            </a:endParaRPr>
          </a:p>
        </p:txBody>
      </p:sp>
      <p:pic>
        <p:nvPicPr>
          <p:cNvPr id="9" name="Picture 8" descr="A diagram of a human body&#10;&#10;AI-generated content may be incorrect.">
            <a:extLst>
              <a:ext uri="{FF2B5EF4-FFF2-40B4-BE49-F238E27FC236}">
                <a16:creationId xmlns:a16="http://schemas.microsoft.com/office/drawing/2014/main" id="{E5724789-A185-0949-1976-B1A4068DCF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2730" y="1960880"/>
            <a:ext cx="5349670" cy="344932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40120E3-77B3-17C4-3BEC-76A3CAE6B292}"/>
              </a:ext>
            </a:extLst>
          </p:cNvPr>
          <p:cNvSpPr/>
          <p:nvPr/>
        </p:nvSpPr>
        <p:spPr>
          <a:xfrm>
            <a:off x="804673" y="1609344"/>
            <a:ext cx="5020056" cy="45262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960869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C20BE-FC75-6CB8-40FB-5758995D6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0" dirty="0" err="1"/>
              <a:t>Tavoite</a:t>
            </a:r>
            <a:r>
              <a:rPr lang="en-GB" sz="3200" b="0" dirty="0"/>
              <a:t> </a:t>
            </a:r>
            <a:r>
              <a:rPr lang="en-GB" sz="3200" b="0" dirty="0" err="1"/>
              <a:t>ja</a:t>
            </a:r>
            <a:r>
              <a:rPr lang="en-GB" sz="3200" b="0" dirty="0"/>
              <a:t> idea</a:t>
            </a:r>
            <a:endParaRPr lang="LID4096" sz="3200" b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C78032-C08A-DD41-1921-C6D8D85D6191}"/>
              </a:ext>
            </a:extLst>
          </p:cNvPr>
          <p:cNvSpPr txBox="1"/>
          <p:nvPr/>
        </p:nvSpPr>
        <p:spPr>
          <a:xfrm>
            <a:off x="1017638" y="1976283"/>
            <a:ext cx="8016633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2200" dirty="0"/>
              <a:t>🎯 </a:t>
            </a:r>
            <a:r>
              <a:rPr lang="fi-FI" sz="2200" b="1" dirty="0"/>
              <a:t>Tavoite:</a:t>
            </a:r>
            <a:br>
              <a:rPr lang="fi-FI" dirty="0"/>
            </a:br>
            <a:r>
              <a:rPr lang="fi-FI" dirty="0"/>
              <a:t>	</a:t>
            </a:r>
            <a:r>
              <a:rPr lang="fi-FI" sz="2000" dirty="0"/>
              <a:t>Kehittää tekoälyjärjestelmä, joka tunnistaa ja luokittelee 	alaraajan liikkeet </a:t>
            </a:r>
            <a:r>
              <a:rPr lang="fi-FI" sz="2000" dirty="0" err="1"/>
              <a:t>MoveSense</a:t>
            </a:r>
            <a:r>
              <a:rPr lang="fi-FI" sz="2000" dirty="0"/>
              <a:t>-anturin datan perusteella.</a:t>
            </a:r>
            <a:endParaRPr lang="LID4096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E0F5A5-C735-291C-A125-3B6638FAE0FB}"/>
              </a:ext>
            </a:extLst>
          </p:cNvPr>
          <p:cNvSpPr txBox="1"/>
          <p:nvPr/>
        </p:nvSpPr>
        <p:spPr>
          <a:xfrm>
            <a:off x="1017638" y="3780857"/>
            <a:ext cx="9969909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2200" dirty="0"/>
              <a:t>💡 </a:t>
            </a:r>
            <a:r>
              <a:rPr lang="fi-FI" sz="2200" b="1" dirty="0"/>
              <a:t>Idea:</a:t>
            </a:r>
            <a:endParaRPr lang="fi-FI" sz="2200" dirty="0"/>
          </a:p>
          <a:p>
            <a:r>
              <a:rPr lang="fi-FI" sz="2000" dirty="0"/>
              <a:t>	</a:t>
            </a:r>
            <a:r>
              <a:rPr lang="fi-FI" sz="2000" dirty="0" err="1"/>
              <a:t>MoveSense</a:t>
            </a:r>
            <a:r>
              <a:rPr lang="fi-FI" sz="2000" dirty="0"/>
              <a:t> kerää 9-akselista IMU-dataa (kiihtyvyys, kulmanopeus, 	magnetometria).</a:t>
            </a:r>
          </a:p>
          <a:p>
            <a:r>
              <a:rPr lang="fi-FI" sz="2000" dirty="0"/>
              <a:t>	Python käsittelee ja tiivistää datan.</a:t>
            </a:r>
          </a:p>
          <a:p>
            <a:r>
              <a:rPr lang="fi-FI" sz="2000" dirty="0"/>
              <a:t>	Data lähetetään rajapinnan–tekoälylle.</a:t>
            </a:r>
          </a:p>
          <a:p>
            <a:r>
              <a:rPr lang="fi-FI" sz="2000" dirty="0"/>
              <a:t>	Tekoäly tunnistaa liikkeen tyypin ja arvioi sen biomekaanisen</a:t>
            </a:r>
          </a:p>
          <a:p>
            <a:r>
              <a:rPr lang="fi-FI" sz="2000" dirty="0"/>
              <a:t>	oikeellisuuden.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402E058-6147-956A-A92B-AB1EA3F12EB4}"/>
              </a:ext>
            </a:extLst>
          </p:cNvPr>
          <p:cNvSpPr/>
          <p:nvPr/>
        </p:nvSpPr>
        <p:spPr>
          <a:xfrm>
            <a:off x="1088135" y="1874520"/>
            <a:ext cx="8311897" cy="12197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4FC6E91-2093-F956-61C6-646CB9B68531}"/>
              </a:ext>
            </a:extLst>
          </p:cNvPr>
          <p:cNvSpPr/>
          <p:nvPr/>
        </p:nvSpPr>
        <p:spPr>
          <a:xfrm>
            <a:off x="1088135" y="3763748"/>
            <a:ext cx="8311898" cy="22946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958174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5469E-009F-2C18-EA7D-9A98CC516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0"/>
              <a:t>Menetelmät</a:t>
            </a:r>
            <a:endParaRPr lang="LID4096" sz="3200" b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A58637-14C1-E561-7001-CD789C58F21B}"/>
              </a:ext>
            </a:extLst>
          </p:cNvPr>
          <p:cNvSpPr txBox="1"/>
          <p:nvPr/>
        </p:nvSpPr>
        <p:spPr>
          <a:xfrm>
            <a:off x="863006" y="3712960"/>
            <a:ext cx="7915233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I" sz="2200" dirty="0">
                <a:latin typeface="Aptos Display" panose="020B0004020202020204" pitchFamily="34" charset="0"/>
              </a:rPr>
              <a:t>🧩 </a:t>
            </a:r>
            <a:r>
              <a:rPr lang="en-GB" sz="2200" b="1" dirty="0" err="1">
                <a:latin typeface="Aptos Display" panose="020B0004020202020204" pitchFamily="34" charset="0"/>
              </a:rPr>
              <a:t>Käytetyt</a:t>
            </a:r>
            <a:r>
              <a:rPr lang="en-GB" sz="2200" b="1" dirty="0">
                <a:latin typeface="Aptos Display" panose="020B0004020202020204" pitchFamily="34" charset="0"/>
              </a:rPr>
              <a:t> </a:t>
            </a:r>
            <a:r>
              <a:rPr lang="en-GB" sz="2200" b="1" dirty="0" err="1">
                <a:latin typeface="Aptos Display" panose="020B0004020202020204" pitchFamily="34" charset="0"/>
              </a:rPr>
              <a:t>menetelmät</a:t>
            </a:r>
            <a:r>
              <a:rPr lang="en-GB" sz="2200" b="1" dirty="0">
                <a:latin typeface="Aptos Display" panose="020B0004020202020204" pitchFamily="34" charset="0"/>
              </a:rPr>
              <a:t> </a:t>
            </a:r>
            <a:r>
              <a:rPr lang="en-GB" sz="2200" b="1" dirty="0" err="1">
                <a:latin typeface="Aptos Display" panose="020B0004020202020204" pitchFamily="34" charset="0"/>
              </a:rPr>
              <a:t>ja</a:t>
            </a:r>
            <a:r>
              <a:rPr lang="en-GB" sz="2200" b="1" dirty="0">
                <a:latin typeface="Aptos Display" panose="020B0004020202020204" pitchFamily="34" charset="0"/>
              </a:rPr>
              <a:t> </a:t>
            </a:r>
            <a:r>
              <a:rPr lang="en-GB" sz="2200" b="1" dirty="0" err="1">
                <a:latin typeface="Aptos Display" panose="020B0004020202020204" pitchFamily="34" charset="0"/>
              </a:rPr>
              <a:t>työkalut</a:t>
            </a:r>
            <a:r>
              <a:rPr lang="en-GB" sz="2200" b="1" dirty="0">
                <a:latin typeface="Aptos Display" panose="020B0004020202020204" pitchFamily="34" charset="0"/>
              </a:rPr>
              <a:t>:</a:t>
            </a:r>
            <a:endParaRPr lang="en-GB" sz="2200" dirty="0">
              <a:latin typeface="Aptos Display" panose="020B0004020202020204" pitchFamily="34" charset="0"/>
            </a:endParaRPr>
          </a:p>
          <a:p>
            <a:r>
              <a:rPr lang="en-GB" sz="2000" b="1" dirty="0">
                <a:latin typeface="Aptos Display" panose="020B0004020202020204" pitchFamily="34" charset="0"/>
              </a:rPr>
              <a:t>	</a:t>
            </a:r>
            <a:r>
              <a:rPr lang="en-GB" sz="2000" b="1" dirty="0" err="1">
                <a:latin typeface="Aptos Display" panose="020B0004020202020204" pitchFamily="34" charset="0"/>
              </a:rPr>
              <a:t>Anturi</a:t>
            </a:r>
            <a:r>
              <a:rPr lang="en-GB" sz="2000" b="1" dirty="0">
                <a:latin typeface="Aptos Display" panose="020B0004020202020204" pitchFamily="34" charset="0"/>
              </a:rPr>
              <a:t>:</a:t>
            </a:r>
            <a:r>
              <a:rPr lang="en-GB" sz="2000" dirty="0">
                <a:latin typeface="Aptos Display" panose="020B0004020202020204" pitchFamily="34" charset="0"/>
              </a:rPr>
              <a:t> 		</a:t>
            </a:r>
            <a:r>
              <a:rPr lang="en-GB" sz="2000" dirty="0" err="1">
                <a:latin typeface="Aptos Display" panose="020B0004020202020204" pitchFamily="34" charset="0"/>
              </a:rPr>
              <a:t>MoveSense</a:t>
            </a:r>
            <a:endParaRPr lang="en-GB" sz="2000" dirty="0">
              <a:latin typeface="Aptos Display" panose="020B0004020202020204" pitchFamily="34" charset="0"/>
            </a:endParaRPr>
          </a:p>
          <a:p>
            <a:r>
              <a:rPr lang="en-GB" sz="2000" b="1" dirty="0">
                <a:latin typeface="Aptos Display" panose="020B0004020202020204" pitchFamily="34" charset="0"/>
              </a:rPr>
              <a:t>	</a:t>
            </a:r>
            <a:r>
              <a:rPr lang="en-GB" sz="2000" b="1" dirty="0" err="1">
                <a:latin typeface="Aptos Display" panose="020B0004020202020204" pitchFamily="34" charset="0"/>
              </a:rPr>
              <a:t>Ohjelmointi</a:t>
            </a:r>
            <a:r>
              <a:rPr lang="en-GB" sz="2000" b="1" dirty="0">
                <a:latin typeface="Aptos Display" panose="020B0004020202020204" pitchFamily="34" charset="0"/>
              </a:rPr>
              <a:t>:</a:t>
            </a:r>
            <a:r>
              <a:rPr lang="en-GB" sz="2000" dirty="0">
                <a:latin typeface="Aptos Display" panose="020B0004020202020204" pitchFamily="34" charset="0"/>
              </a:rPr>
              <a:t> 	Python</a:t>
            </a:r>
          </a:p>
          <a:p>
            <a:r>
              <a:rPr lang="en-GB" sz="2000" b="1" dirty="0">
                <a:latin typeface="Aptos Display" panose="020B0004020202020204" pitchFamily="34" charset="0"/>
              </a:rPr>
              <a:t>	</a:t>
            </a:r>
            <a:r>
              <a:rPr lang="en-GB" sz="2000" b="1" dirty="0" err="1">
                <a:latin typeface="Aptos Display" panose="020B0004020202020204" pitchFamily="34" charset="0"/>
              </a:rPr>
              <a:t>Tekoäly</a:t>
            </a:r>
            <a:r>
              <a:rPr lang="en-GB" sz="2000" b="1" dirty="0">
                <a:latin typeface="Aptos Display" panose="020B0004020202020204" pitchFamily="34" charset="0"/>
              </a:rPr>
              <a:t>:</a:t>
            </a:r>
            <a:r>
              <a:rPr lang="en-GB" sz="2000" dirty="0">
                <a:latin typeface="Aptos Display" panose="020B0004020202020204" pitchFamily="34" charset="0"/>
              </a:rPr>
              <a:t> 	not selected yet</a:t>
            </a:r>
            <a:endParaRPr lang="en-GB" sz="2000" b="1" dirty="0">
              <a:latin typeface="Aptos Display" panose="020B0004020202020204" pitchFamily="34" charset="0"/>
            </a:endParaRPr>
          </a:p>
          <a:p>
            <a:r>
              <a:rPr lang="en-GB" sz="2000" b="1" dirty="0">
                <a:latin typeface="Aptos Display" panose="020B0004020202020204" pitchFamily="34" charset="0"/>
              </a:rPr>
              <a:t>	</a:t>
            </a:r>
            <a:r>
              <a:rPr lang="en-GB" sz="2000" b="1" dirty="0" err="1">
                <a:latin typeface="Aptos Display" panose="020B0004020202020204" pitchFamily="34" charset="0"/>
              </a:rPr>
              <a:t>Algoritmit</a:t>
            </a:r>
            <a:r>
              <a:rPr lang="en-GB" sz="2000" b="1" dirty="0">
                <a:latin typeface="Aptos Display" panose="020B0004020202020204" pitchFamily="34" charset="0"/>
              </a:rPr>
              <a:t>:</a:t>
            </a:r>
            <a:r>
              <a:rPr lang="en-GB" sz="2000" dirty="0">
                <a:latin typeface="Aptos Display" panose="020B0004020202020204" pitchFamily="34" charset="0"/>
              </a:rPr>
              <a:t> 	Data preprocessing + </a:t>
            </a:r>
            <a:r>
              <a:rPr lang="en-GB" sz="2000" dirty="0" err="1">
                <a:latin typeface="Aptos Display" panose="020B0004020202020204" pitchFamily="34" charset="0"/>
              </a:rPr>
              <a:t>liikkeiden</a:t>
            </a:r>
            <a:r>
              <a:rPr lang="en-GB" sz="2000" dirty="0">
                <a:latin typeface="Aptos Display" panose="020B0004020202020204" pitchFamily="34" charset="0"/>
              </a:rPr>
              <a:t> </a:t>
            </a:r>
            <a:r>
              <a:rPr lang="en-GB" sz="2000" dirty="0" err="1">
                <a:latin typeface="Aptos Display" panose="020B0004020202020204" pitchFamily="34" charset="0"/>
              </a:rPr>
              <a:t>luokittelu</a:t>
            </a:r>
            <a:endParaRPr lang="en-GB" sz="2000" dirty="0">
              <a:latin typeface="Aptos Display" panose="020B0004020202020204" pitchFamily="34" charset="0"/>
            </a:endParaRPr>
          </a:p>
          <a:p>
            <a:r>
              <a:rPr lang="en-GB" sz="2000" b="1" dirty="0">
                <a:latin typeface="Aptos Display" panose="020B0004020202020204" pitchFamily="34" charset="0"/>
              </a:rPr>
              <a:t>	</a:t>
            </a:r>
            <a:r>
              <a:rPr lang="en-GB" sz="2000" b="1" dirty="0" err="1">
                <a:latin typeface="Aptos Display" panose="020B0004020202020204" pitchFamily="34" charset="0"/>
              </a:rPr>
              <a:t>Visualisointi</a:t>
            </a:r>
            <a:r>
              <a:rPr lang="en-GB" sz="2000" b="1" dirty="0">
                <a:latin typeface="Aptos Display" panose="020B0004020202020204" pitchFamily="34" charset="0"/>
              </a:rPr>
              <a:t>:</a:t>
            </a:r>
            <a:r>
              <a:rPr lang="en-GB" sz="2000" dirty="0">
                <a:latin typeface="Aptos Display" panose="020B0004020202020204" pitchFamily="34" charset="0"/>
              </a:rPr>
              <a:t> 	Figma-</a:t>
            </a:r>
            <a:r>
              <a:rPr lang="en-GB" sz="2000" dirty="0" err="1">
                <a:latin typeface="Aptos Display" panose="020B0004020202020204" pitchFamily="34" charset="0"/>
              </a:rPr>
              <a:t>prototyyppi</a:t>
            </a:r>
            <a:endParaRPr lang="en-GB" sz="2000" dirty="0">
              <a:latin typeface="Aptos Display" panose="020B0004020202020204" pitchFamily="34" charset="0"/>
            </a:endParaRPr>
          </a:p>
          <a:p>
            <a:r>
              <a:rPr lang="en-GB" sz="2000" b="1" dirty="0">
                <a:latin typeface="Aptos Display" panose="020B0004020202020204" pitchFamily="34" charset="0"/>
              </a:rPr>
              <a:t>	</a:t>
            </a:r>
            <a:r>
              <a:rPr lang="en-GB" sz="2000" b="1" dirty="0" err="1">
                <a:latin typeface="Aptos Display" panose="020B0004020202020204" pitchFamily="34" charset="0"/>
              </a:rPr>
              <a:t>Testaus</a:t>
            </a:r>
            <a:r>
              <a:rPr lang="en-GB" sz="2000" b="1" dirty="0">
                <a:latin typeface="Aptos Display" panose="020B0004020202020204" pitchFamily="34" charset="0"/>
              </a:rPr>
              <a:t>:</a:t>
            </a:r>
            <a:r>
              <a:rPr lang="en-GB" sz="2000" dirty="0">
                <a:latin typeface="Aptos Display" panose="020B0004020202020204" pitchFamily="34" charset="0"/>
              </a:rPr>
              <a:t> 	</a:t>
            </a:r>
            <a:r>
              <a:rPr lang="en-GB" sz="2000" dirty="0" err="1">
                <a:latin typeface="Aptos Display" panose="020B0004020202020204" pitchFamily="34" charset="0"/>
              </a:rPr>
              <a:t>Kyykkytesti</a:t>
            </a:r>
            <a:r>
              <a:rPr lang="en-GB" sz="2000" dirty="0">
                <a:latin typeface="Aptos Display" panose="020B0004020202020204" pitchFamily="34" charset="0"/>
              </a:rPr>
              <a:t> </a:t>
            </a:r>
            <a:r>
              <a:rPr lang="en-GB" sz="2000" dirty="0" err="1">
                <a:latin typeface="Aptos Display" panose="020B0004020202020204" pitchFamily="34" charset="0"/>
              </a:rPr>
              <a:t>ja</a:t>
            </a:r>
            <a:r>
              <a:rPr lang="en-GB" sz="2000" dirty="0">
                <a:latin typeface="Aptos Display" panose="020B0004020202020204" pitchFamily="34" charset="0"/>
              </a:rPr>
              <a:t> </a:t>
            </a:r>
            <a:r>
              <a:rPr lang="en-GB" sz="2000" dirty="0" err="1">
                <a:latin typeface="Aptos Display" panose="020B0004020202020204" pitchFamily="34" charset="0"/>
              </a:rPr>
              <a:t>kävelytesti</a:t>
            </a:r>
            <a:endParaRPr lang="en-GB" sz="2000" dirty="0">
              <a:latin typeface="Aptos Display" panose="020B0004020202020204" pitchFamily="34" charset="0"/>
            </a:endParaRPr>
          </a:p>
        </p:txBody>
      </p:sp>
      <p:pic>
        <p:nvPicPr>
          <p:cNvPr id="6" name="Picture 5" descr="A black arrow pointing to a white background&#10;&#10;AI-generated content may be incorrect.">
            <a:extLst>
              <a:ext uri="{FF2B5EF4-FFF2-40B4-BE49-F238E27FC236}">
                <a16:creationId xmlns:a16="http://schemas.microsoft.com/office/drawing/2014/main" id="{E9A6C639-6B69-4E48-A1D1-1DD5C84FF7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9361" y="1852298"/>
            <a:ext cx="8413277" cy="1576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46458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0D882-A30D-3975-72E9-94651B2CA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0" dirty="0" err="1"/>
              <a:t>Odotetut</a:t>
            </a:r>
            <a:r>
              <a:rPr lang="en-GB" sz="3200" b="0" dirty="0"/>
              <a:t> </a:t>
            </a:r>
            <a:r>
              <a:rPr lang="en-GB" sz="3200" b="0" dirty="0" err="1"/>
              <a:t>tulokset</a:t>
            </a:r>
            <a:endParaRPr lang="LID4096" sz="3200" b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A05F3-CD8F-B87B-0340-745F1062CB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8136" y="2239395"/>
            <a:ext cx="5739391" cy="2177158"/>
          </a:xfrm>
        </p:spPr>
        <p:txBody>
          <a:bodyPr>
            <a:normAutofit lnSpcReduction="10000"/>
          </a:bodyPr>
          <a:lstStyle/>
          <a:p>
            <a:r>
              <a:rPr lang="fi-FI" sz="2000" dirty="0"/>
              <a:t>Järjestelmä tunnistaa liikkeen tyypin IMU-datasta</a:t>
            </a:r>
          </a:p>
          <a:p>
            <a:r>
              <a:rPr lang="fi-FI" sz="2000" dirty="0"/>
              <a:t>Tekoäly tuottaa käyttäjälle lyhyen palautteen luonnollisella kielellä</a:t>
            </a:r>
          </a:p>
          <a:p>
            <a:r>
              <a:rPr lang="fi-FI" sz="2000" dirty="0"/>
              <a:t>Mahdollisuus soveltaa ratkaisua urheilussa, kuntoutuksessa ja terveysteknologiassa</a:t>
            </a:r>
          </a:p>
          <a:p>
            <a:endParaRPr lang="LID4096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561E80-6AFF-99E6-3E8E-0845691DC115}"/>
              </a:ext>
            </a:extLst>
          </p:cNvPr>
          <p:cNvSpPr txBox="1"/>
          <p:nvPr/>
        </p:nvSpPr>
        <p:spPr>
          <a:xfrm>
            <a:off x="1088136" y="5084805"/>
            <a:ext cx="105887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1400" dirty="0"/>
              <a:t>💬 </a:t>
            </a:r>
            <a:r>
              <a:rPr lang="fi-FI" sz="1400" i="1" dirty="0"/>
              <a:t>“Tulevaisuudessa käyttäjä voisi saada reaaliaikaista</a:t>
            </a:r>
          </a:p>
          <a:p>
            <a:r>
              <a:rPr lang="fi-FI" sz="1400" i="1" dirty="0"/>
              <a:t>	palautetta liikkeidensä laadusta tekoälyn avulla.”</a:t>
            </a:r>
            <a:endParaRPr lang="fi-FI" sz="1400" dirty="0"/>
          </a:p>
        </p:txBody>
      </p:sp>
      <p:pic>
        <p:nvPicPr>
          <p:cNvPr id="6" name="Picture 5" descr="A black and white image of a person's head&#10;&#10;AI-generated content may be incorrect.">
            <a:extLst>
              <a:ext uri="{FF2B5EF4-FFF2-40B4-BE49-F238E27FC236}">
                <a16:creationId xmlns:a16="http://schemas.microsoft.com/office/drawing/2014/main" id="{F923E0EB-F008-A3E0-980C-D149C7C735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4905" y="2221088"/>
            <a:ext cx="4514605" cy="188264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EAC750A-A869-DCC4-CC50-7D3E18151863}"/>
              </a:ext>
            </a:extLst>
          </p:cNvPr>
          <p:cNvSpPr/>
          <p:nvPr/>
        </p:nvSpPr>
        <p:spPr>
          <a:xfrm>
            <a:off x="868679" y="2047351"/>
            <a:ext cx="5739391" cy="2652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044454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DC421-04A1-5517-DBD6-A560A05FC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4919" y="4681728"/>
            <a:ext cx="1581913" cy="1463040"/>
          </a:xfrm>
        </p:spPr>
        <p:txBody>
          <a:bodyPr>
            <a:normAutofit/>
          </a:bodyPr>
          <a:lstStyle/>
          <a:p>
            <a:r>
              <a:rPr lang="fi-FI" sz="3600" dirty="0"/>
              <a:t>Kiitos!</a:t>
            </a:r>
            <a:endParaRPr lang="LID4096" sz="3600" dirty="0"/>
          </a:p>
        </p:txBody>
      </p:sp>
      <p:pic>
        <p:nvPicPr>
          <p:cNvPr id="5" name="Content Placeholder 4" descr="A black and white illustration of a robot holding a light bulb&#10;&#10;AI-generated content may be incorrect.">
            <a:extLst>
              <a:ext uri="{FF2B5EF4-FFF2-40B4-BE49-F238E27FC236}">
                <a16:creationId xmlns:a16="http://schemas.microsoft.com/office/drawing/2014/main" id="{BE19D105-61FF-44F3-BBE4-D4A7C1FF68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3265" y="830580"/>
            <a:ext cx="4148620" cy="3767138"/>
          </a:xfrm>
        </p:spPr>
      </p:pic>
    </p:spTree>
    <p:extLst>
      <p:ext uri="{BB962C8B-B14F-4D97-AF65-F5344CB8AC3E}">
        <p14:creationId xmlns:p14="http://schemas.microsoft.com/office/powerpoint/2010/main" val="3695585937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</TotalTime>
  <Words>243</Words>
  <Application>Microsoft Office PowerPoint</Application>
  <PresentationFormat>Widescreen</PresentationFormat>
  <Paragraphs>32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 Display</vt:lpstr>
      <vt:lpstr>Arial</vt:lpstr>
      <vt:lpstr>Bierstadt</vt:lpstr>
      <vt:lpstr>GestaltVTI</vt:lpstr>
      <vt:lpstr>Projektin nimi ja tiimi   AI Motion Analyzer – tekoälypohjainen polven liikkeen tunnistusjärjestelmä    Kurssi: Mittaustiedon käsittely ja visualisointi  Ryhmä: R10 / A, Chatgpt</vt:lpstr>
      <vt:lpstr>Tausta ja ongelma</vt:lpstr>
      <vt:lpstr>Tavoite ja idea</vt:lpstr>
      <vt:lpstr>Menetelmät</vt:lpstr>
      <vt:lpstr>Odotetut tulokset</vt:lpstr>
      <vt:lpstr>Kiitos!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Artem Lukianenkov</dc:creator>
  <cp:lastModifiedBy>Artem Lukianenkov</cp:lastModifiedBy>
  <cp:revision>1</cp:revision>
  <dcterms:created xsi:type="dcterms:W3CDTF">2025-10-26T18:12:57Z</dcterms:created>
  <dcterms:modified xsi:type="dcterms:W3CDTF">2025-10-26T23:58:46Z</dcterms:modified>
</cp:coreProperties>
</file>